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($k)</c:v>
                </c:pt>
              </c:strCache>
            </c:strRef>
          </c:tx>
          <c:spPr>
            <a:solidFill>
              <a:srgbClr val="2BFF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License + legal</c:v>
                  </c:pt>
                  <c:pt idx="1">
                    <c:v>Buildout</c:v>
                  </c:pt>
                  <c:pt idx="2">
                    <c:v>Equipment</c:v>
                  </c:pt>
                  <c:pt idx="3">
                    <c:v>Initial inventory</c:v>
                  </c:pt>
                  <c:pt idx="4">
                    <c:v>Working capital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100</c:v>
                </c:pt>
                <c:pt idx="2">
                  <c:v>150</c:v>
                </c:pt>
                <c:pt idx="3">
                  <c:v>75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($k)</c:v>
                </c:pt>
              </c:strCache>
            </c:strRef>
          </c:tx>
          <c:spPr>
            <a:solidFill>
              <a:srgbClr val="FF8A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License + legal</c:v>
                  </c:pt>
                  <c:pt idx="1">
                    <c:v>Buildout</c:v>
                  </c:pt>
                  <c:pt idx="2">
                    <c:v>Equipment</c:v>
                  </c:pt>
                  <c:pt idx="3">
                    <c:v>Initial inventory</c:v>
                  </c:pt>
                  <c:pt idx="4">
                    <c:v>Working capital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</c:v>
                </c:pt>
                <c:pt idx="1">
                  <c:v>200</c:v>
                </c:pt>
                <c:pt idx="2">
                  <c:v>300</c:v>
                </c:pt>
                <c:pt idx="3">
                  <c:v>150</c:v>
                </c:pt>
                <c:pt idx="4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B6A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D3A2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FB6A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FB6A0"/>
                    </a:solidFill>
                    <a:latin typeface="Arial"/>
                  </a:rPr>
                  <a:t>USD thousands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B6A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F0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8FB6A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A0F0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6400800" cy="6400800"/>
          </a:xfrm>
          <a:prstGeom prst="ellipse">
            <a:avLst/>
          </a:prstGeom>
          <a:solidFill>
            <a:srgbClr val="0F18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ROADMAP · CONFIDENTIAL DRAFT · JUNE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2B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STRIDE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FB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THC-Infused Running Gels — fast-onset endurance fuel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plan to license, manufacture and sell a precisely-dosed, nano-emulsified THC running gel — built around the legal reality that cannabis is a closed, state-by-state market.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30352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303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Launch: New Jersey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530352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5303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NY · 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530352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5303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State-licensed cannabis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784080" y="1920240"/>
            <a:ext cx="1554480" cy="2743200"/>
          </a:xfrm>
          <a:prstGeom prst="roundRect">
            <a:avLst>
              <a:gd name="adj" fmla="val 29412"/>
            </a:avLst>
          </a:prstGeom>
          <a:solidFill>
            <a:srgbClr val="0C1A13"/>
          </a:solidFill>
          <a:ln w="31750">
            <a:solidFill>
              <a:srgbClr val="2BFF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0" y="320040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13C46A"/>
          </a:solidFill>
          <a:ln w="12700">
            <a:solidFill>
              <a:srgbClr val="2B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784080" y="3383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617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10mg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for planning purposes — not legal or financial advice. · 14 slides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THIS, 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AF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opportunity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gap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 athletes already dose mid-run gels for carbs &amp; caffeine. No mainstream brand pairs that ritual with a low, precise THC dose for focus, pain and recovery.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1688" y="173736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0288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tailwind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0288" y="2377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Cannabis + fitness is a fast-growing usage occasion. Microdosing (2.5–10mg) is the dominant trend — exactly the format a gel suits.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173736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11896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advantage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11896" y="2377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single-serve sachet is portable, shelf-stable and dose-controlled — far easier to keep compliant than gummies that 'appeal to children.'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0F1812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160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10mg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6868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THC per serving — NJ legal ceiling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1688" y="397764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0F1812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90288" y="4160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~15 min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590288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with nano-emulsion vs 60+ for oil edibles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83296" y="397764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0F1812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11896" y="4160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311896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states: NJ → NY → MA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BEFORE SPENDING A DOLLAR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AF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one rule that shapes everything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1C0F12"/>
          </a:solidFill>
          <a:ln w="19050">
            <a:solidFill>
              <a:srgbClr val="FF5D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91440" cy="1371600"/>
          </a:xfrm>
          <a:prstGeom prst="rect">
            <a:avLst/>
          </a:prstGeom>
          <a:solidFill>
            <a:srgbClr val="FF5D6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ship THC across state lines — ever. </a:t>
            </a:r>
            <a:pPr indent="0" marL="0">
              <a:buNone/>
            </a:pPr>
            <a:r>
              <a:rPr lang="en-US" sz="15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Marijuana is federally Schedule I, so the moment a product crosses a border it becomes federal drug trafficking, even between two legal states. Each state is a sealed market supplied only by cannabis grown and processed inside that state.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5303520" cy="1554480"/>
          </a:xfrm>
          <a:prstGeom prst="roundRect">
            <a:avLst>
              <a:gd name="adj" fmla="val 5294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474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kills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of one factory selling 'anywhere legal on the East Coast.' Impossible for marijuana-derived THC.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03520" cy="1554480"/>
          </a:xfrm>
          <a:prstGeom prst="roundRect">
            <a:avLst>
              <a:gd name="adj" fmla="val 5294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3474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you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3886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in NJ, NY and MA you must license, manufacture AND sell separately in each state. Launch the same brand three times.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074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B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hemp-derived Delta-9 'Farm Bill' workaround some brands ship nationally is being closed by federal law effective Nov 12, 2026 (0.4mg THC/container cap). Not a viable foundation — this plan uses the durable state-licensed path.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SEQUENCE, DON'T SPREAD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AF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Strategy: win one state, then clone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1005840"/>
          </a:xfrm>
          <a:prstGeom prst="roundRect">
            <a:avLst>
              <a:gd name="adj" fmla="val 8182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39112"/>
            <a:ext cx="502920" cy="502920"/>
          </a:xfrm>
          <a:prstGeom prst="ellipse">
            <a:avLst/>
          </a:prstGeom>
          <a:solidFill>
            <a:srgbClr val="2BFF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17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8928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New Jersey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2402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 base &amp; residency advantage. Prove product, brand and unit economics in one closed market.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6766560" cy="1005840"/>
          </a:xfrm>
          <a:prstGeom prst="roundRect">
            <a:avLst>
              <a:gd name="adj" fmla="val 8182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182112"/>
            <a:ext cx="502920" cy="502920"/>
          </a:xfrm>
          <a:prstGeom prst="ellipse">
            <a:avLst/>
          </a:prstGeom>
          <a:solidFill>
            <a:srgbClr val="2BFF8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17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0358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New York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3832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East Coast market. Replicate with an in-state processor license and in-state supply.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6766560" cy="1005840"/>
          </a:xfrm>
          <a:prstGeom prst="roundRect">
            <a:avLst>
              <a:gd name="adj" fmla="val 8182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325112"/>
            <a:ext cx="502920" cy="502920"/>
          </a:xfrm>
          <a:prstGeom prst="ellipse">
            <a:avLst/>
          </a:prstGeom>
          <a:solidFill>
            <a:srgbClr val="2B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17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1788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Massachusetts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45262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market with a strong wholesale network for a craft manufacturer.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12080"/>
            <a:ext cx="6766560" cy="1005840"/>
          </a:xfrm>
          <a:prstGeom prst="roundRect">
            <a:avLst>
              <a:gd name="adj" fmla="val 8182"/>
            </a:avLst>
          </a:prstGeom>
          <a:solidFill>
            <a:srgbClr val="0F1812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52120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NJ first:  </a:t>
            </a:r>
            <a:pPr indent="0" marL="0">
              <a:buNone/>
            </a:pPr>
            <a:r>
              <a:rPr lang="en-US" sz="12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'significantly involved' person must have lived in NJ 2+ years — an edge if that's you. Faster conditional licensing (4–12 wks) lets you lock a footprint cheaply before heavy spend.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0" y="1783080"/>
            <a:ext cx="3840480" cy="4434840"/>
          </a:xfrm>
          <a:prstGeom prst="roundRect">
            <a:avLst>
              <a:gd name="adj" fmla="val 2143"/>
            </a:avLst>
          </a:prstGeom>
          <a:solidFill>
            <a:srgbClr val="0F1812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83880" y="21945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163A26"/>
          </a:solidFill>
          <a:ln w="19050">
            <a:solidFill>
              <a:srgbClr val="2BFF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21945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 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83880" y="329184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163A26"/>
          </a:solidFill>
          <a:ln w="19050">
            <a:solidFill>
              <a:srgbClr val="2BFF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32918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 ❷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686800" y="43891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163A26"/>
          </a:solidFill>
          <a:ln w="19050">
            <a:solidFill>
              <a:srgbClr val="2BFF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43891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  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29600" y="544068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163A26"/>
          </a:solidFill>
          <a:ln w="19050">
            <a:solidFill>
              <a:srgbClr val="1D3A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54406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/ CT…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55280" y="6355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 = own license, supply chain &amp; sales. Sequence = brand replication, not product shipment.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ACTUALLY MAKING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AF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product &amp; the science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2377440"/>
          </a:xfrm>
          <a:prstGeom prst="roundRect">
            <a:avLst>
              <a:gd name="adj" fmla="val 3462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Fast-onset is the whole pitch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THC distillate is oil-soluble — slow in a water gel. Nano-emulsification shrinks THC to 20–600nm droplets that disperse in water and absorb in ~15 min. Perfect mid-run timing.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1688" y="1737360"/>
            <a:ext cx="3474720" cy="2377440"/>
          </a:xfrm>
          <a:prstGeom prst="roundRect">
            <a:avLst>
              <a:gd name="adj" fmla="val 3462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0288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90288" y="25146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 energy base (maltodextrin/fructose) + electrolytes + nano-THC emulsion, dosed to 10mg per single-serve sachet. Caffeine / CBD ratios as line extensions.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83296" y="1737360"/>
            <a:ext cx="3474720" cy="2377440"/>
          </a:xfrm>
          <a:prstGeom prst="roundRect">
            <a:avLst>
              <a:gd name="adj" fmla="val 3462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11896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by design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11896" y="25146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Single-serve sachet; opaque, child-resistant, tamper-evident packaging; 'This is a cannabis product' mark; no kid-appealing shapes; lab-tested every batch.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0F1812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846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in-state distillate  →  standardize/decarb  →  rotor-stator pre-mix  →  ultrasonic homogenizer (nano-emulsion)  →  blend into gel base  →  deposit/fill sachets  →  seal  →  batch lab test  →  label &amp; case  →  in-state dispensaries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TAKES TO OPERATE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AF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Licensing breakdown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1554480"/>
                <a:gridCol w="1554480"/>
                <a:gridCol w="237744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0F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FF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0F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FF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0F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FF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0F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FF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0F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FF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0F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FF8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Jersey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2 Manufacturer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 renew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 2+ yrs; owners 21+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Cond. 4–12 wks; annual 12–28 wks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Adult-Use Processor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~$2,000 (cond.)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 / 2 yrs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NY-incorporated, NY ownership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Portal-based; varies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Massachusetts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Manufacturer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$10,000 / 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Community Agreement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F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Multi-stage CCC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57200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0F1812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gatekeeper isn't the fee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68680" y="5074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municipal approval. The town must allow &amp; zone for cannabis manufacturing and sign off. Securing a compliant site + local approval is the long pole — start here.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457200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0F1812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4652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→ annual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46520" y="5074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NJ's conditional license to lock status cheaply, then ~120 days to secure premises, municipal approval and convert. Don't sign a long lease before zoning is confirmed.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license fees only — exclude legal, application prep, security plans and local permit costs.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THE THC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AF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Manufacturing inputs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1188720"/>
          </a:xfrm>
          <a:prstGeom prst="roundRect">
            <a:avLst>
              <a:gd name="adj" fmla="val 6154"/>
            </a:avLst>
          </a:prstGeom>
          <a:solidFill>
            <a:srgbClr val="1C0F12"/>
          </a:solidFill>
          <a:ln w="19050">
            <a:solidFill>
              <a:srgbClr val="FF5D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91440" cy="1188720"/>
          </a:xfrm>
          <a:prstGeom prst="rect">
            <a:avLst/>
          </a:prstGeom>
          <a:solidFill>
            <a:srgbClr val="FF5D6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just 'buy THC in bulk' on the open market. </a:t>
            </a:r>
            <a:pPr indent="0" marL="0">
              <a:buNone/>
            </a:pPr>
            <a:r>
              <a:rPr lang="en-US" sz="14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closed state market, inputs must come from in-state licensed cultivators/processors, tracked seed-to-sale (e.g. METRC). No importing, no out-of-state online distillate.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actually get 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with licensed in-state cultivators for biomass, or buy finished distillate/oil from in-state licensed processors. In NY the processor model often processes a cultivator's cannabis without taking title — structure matters.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1688" y="310896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0288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per state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0288" y="37947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 product from NJ cannabis; NY from NY; MA from MA. A separate supply relationship in every market you enter.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310896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11896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11896" y="37947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incoming distillate potency, dose to spec. Every finished batch goes to a state-licensed testing lab before sale.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&amp; WITH 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AF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Facility, equipment &amp; space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554480"/>
          </a:xfrm>
          <a:prstGeom prst="roundRect">
            <a:avLst>
              <a:gd name="adj" fmla="val 5294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— start lean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craft launch needs ~2,500–5,000 sq ft: food-grade production room, secure THC vault, packaging area, QA bench, office. Scale-up runs 10,000–25,000 sq ft (ex-food-processing sites are ideal).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554480"/>
          </a:xfrm>
          <a:prstGeom prst="roundRect">
            <a:avLst>
              <a:gd name="adj" fmla="val 5294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Buildout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3317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Food-safety finishes, HVAC/ventilation, sealed surfaces, plus mandatory security: cameras, alarms, access control, vault. Budget ~$100k+ for compliant buildout.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5303520" cy="2606040"/>
          </a:xfrm>
          <a:prstGeom prst="roundRect">
            <a:avLst>
              <a:gd name="adj" fmla="val 3158"/>
            </a:avLst>
          </a:prstGeom>
          <a:solidFill>
            <a:srgbClr val="0F1812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production equipment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41148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Rotor-stator mixer (pre-emulsion)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homogenizer / nano-emulsion system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Jacketed heating/mixing kettles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depositor / sachet filler &amp; sealer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Scales, viscometer, lab/QA glassware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520440"/>
            <a:ext cx="5394960" cy="2606040"/>
          </a:xfrm>
          <a:prstGeom prst="roundRect">
            <a:avLst>
              <a:gd name="adj" fmla="val 3158"/>
            </a:avLst>
          </a:prstGeom>
          <a:solidFill>
            <a:srgbClr val="0F1812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ops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41148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METRC-integrated seed-to-sale software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/ locked cannabis storage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+ alarm + access control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Child-resistant, opaque packaging 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Cold/dry storage, sanitation station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TO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AF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Budget — single-state launch (NJ)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783080"/>
            <a:ext cx="3749040" cy="2011680"/>
          </a:xfrm>
          <a:prstGeom prst="roundRect">
            <a:avLst>
              <a:gd name="adj" fmla="val 4091"/>
            </a:avLst>
          </a:prstGeom>
          <a:solidFill>
            <a:srgbClr val="0F1812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capital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92440" y="2286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$400k–$750k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092440" y="2971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craft launch, all-in. A full extraction-grade lab pushes $1M+. ~2-yr breakeven is typical.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63840" y="3977640"/>
            <a:ext cx="3749040" cy="2011680"/>
          </a:xfrm>
          <a:prstGeom prst="roundRect">
            <a:avLst>
              <a:gd name="adj" fmla="val 4091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09244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working capital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183880" y="45262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Payroll: $40k–$80k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Inventory: $75k–$150k initial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testing, utilities, insurance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dispensary placement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6–12 months of runway — cannabis lending is scarce and expensive.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TODAY TO LAUNCH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AF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&amp;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0" cy="4023360"/>
          </a:xfrm>
          <a:prstGeom prst="line">
            <a:avLst/>
          </a:prstGeom>
          <a:noFill/>
          <a:ln w="38100">
            <a:solidFill>
              <a:srgbClr val="2BFF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A0F0C"/>
          </a:solidFill>
          <a:ln w="38100">
            <a:solidFill>
              <a:srgbClr val="2B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783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· Months 0–2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1214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entity, commit capital, retain NJ cannabis attorney, finalize brand &amp; formulation concept, build financial model.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457200" cy="457200"/>
          </a:xfrm>
          <a:prstGeom prst="ellipse">
            <a:avLst/>
          </a:prstGeom>
          <a:solidFill>
            <a:srgbClr val="0A0F0C"/>
          </a:solidFill>
          <a:ln w="38100">
            <a:solidFill>
              <a:srgbClr val="2B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6243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Months 2–5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96265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cannabis-friendly municipality, secure site option + zoning/Host approval, file NJ conditional Class 2 application.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11296"/>
            <a:ext cx="457200" cy="457200"/>
          </a:xfrm>
          <a:prstGeom prst="ellipse">
            <a:avLst/>
          </a:prstGeom>
          <a:solidFill>
            <a:srgbClr val="0A0F0C"/>
          </a:solidFill>
          <a:ln w="38100">
            <a:solidFill>
              <a:srgbClr val="2B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46557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Months 5–10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80390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lease, buildout &amp; security install, buy equipment, line up in-state distillate supply, convert to annual license, R&amp;D gel + lab testing.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352544"/>
            <a:ext cx="457200" cy="457200"/>
          </a:xfrm>
          <a:prstGeom prst="ellipse">
            <a:avLst/>
          </a:prstGeom>
          <a:solidFill>
            <a:srgbClr val="0A0F0C"/>
          </a:solidFill>
          <a:ln w="38100">
            <a:solidFill>
              <a:srgbClr val="2B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43068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Months 10–14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46451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compliant batches, packaging/labeling sign-off, onboard dispensary accounts, NJ market launch.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193792"/>
            <a:ext cx="457200" cy="457200"/>
          </a:xfrm>
          <a:prstGeom prst="ellipse">
            <a:avLst/>
          </a:prstGeom>
          <a:solidFill>
            <a:srgbClr val="0A0F0C"/>
          </a:solidFill>
          <a:ln w="38100">
            <a:solidFill>
              <a:srgbClr val="FF8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51480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Year 2+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5486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NJ unit economics, then replicate the entire stack in NY, then MA.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TOMORROW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AF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next 90 days — to-do 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structure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LLC + confirm NJ residency edge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NJ cannabis counsel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cap table / funding plan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local approval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NJ towns that permit cannabis mfg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dialogue on Host/zoning approval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2,500–5,000 sq ft food-grade sites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44805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the 10mg nano-emulsion gel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equipment quotes (homogenizer, depositor)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in-state distillate suppliers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&amp; compliance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44805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budget model (CAPEX + 12-mo runway)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NJ conditional application package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up cannabis-friendly banking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EVERY RULE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AF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rules you must hit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2377440"/>
          </a:xfrm>
          <a:prstGeom prst="roundRect">
            <a:avLst>
              <a:gd name="adj" fmla="val 3462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10mg THC max per serving · 100mg max per package (NJ). Servings individually wrapped or clearly delineated.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1688" y="1783080"/>
            <a:ext cx="3474720" cy="2377440"/>
          </a:xfrm>
          <a:prstGeom prst="roundRect">
            <a:avLst>
              <a:gd name="adj" fmla="val 3462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0288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90288" y="24231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Opaque, child-resistant, tamper-evident, resealable for multi-serve. No shapes resembling people, animals, fruit or toys.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83296" y="1783080"/>
            <a:ext cx="3474720" cy="2377440"/>
          </a:xfrm>
          <a:prstGeom prst="roundRect">
            <a:avLst>
              <a:gd name="adj" fmla="val 3462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11896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11896" y="24231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'This is a cannabis product,' product name, THC/CBD content, full ingredient list, warnings. Batch lab-tested.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972800" cy="1280160"/>
          </a:xfrm>
          <a:prstGeom prst="roundRect">
            <a:avLst>
              <a:gd name="adj" fmla="val 6429"/>
            </a:avLst>
          </a:prstGeom>
          <a:solidFill>
            <a:srgbClr val="0F1812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3891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and MA have their own dosing and label rules — re-verify per state before each launch. Treat NJ's limits as your design baseline.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AROUND THESE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AF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Realities to plan around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91440" cy="1920240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280E tax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Federally, cannabis businesses can't deduct ordinary expenses — taxed on gross profit, not net. Crushes margins; model it from day 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783080"/>
            <a:ext cx="91440" cy="1920240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lending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4231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banks won't serve cannabis. Expect specialty banks, higher fees, cash-heavy ops, scarce and expensive capital.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931920"/>
            <a:ext cx="91440" cy="1920240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whiplash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change fast (see the Nov 2026 hemp crackdown). Build compliance flexibility; keep counsel on retainer.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931920"/>
            <a:ext cx="91440" cy="1920240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intensity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4572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interstate scale means re-spending the full stack per state. Sequence carefully — don't open three states at once.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6400800" cy="6400800"/>
          </a:xfrm>
          <a:prstGeom prst="ellipse">
            <a:avLst/>
          </a:prstGeom>
          <a:solidFill>
            <a:srgbClr val="0F18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 TOMORROW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EAFF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 New Jersey first.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B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a cannabis-friendly municipality, file the conditional Class 2 license, and dial in the 10mg nano-emulsion gel. One proven closed market becomes the template you replicate into NY and MA.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389120"/>
            <a:ext cx="3474720" cy="1463040"/>
          </a:xfrm>
          <a:prstGeom prst="roundRect">
            <a:avLst>
              <a:gd name="adj" fmla="val 5625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937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the entity, call a NJ cannabis attorney, start the town/zoning search.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1688" y="4389120"/>
            <a:ext cx="3474720" cy="1463040"/>
          </a:xfrm>
          <a:prstGeom prst="roundRect">
            <a:avLst>
              <a:gd name="adj" fmla="val 5625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0288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quarter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0288" y="4937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+ local approval, conditional license filed, equipment quotes, supply leads.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4389120"/>
            <a:ext cx="3474720" cy="1463040"/>
          </a:xfrm>
          <a:prstGeom prst="roundRect">
            <a:avLst>
              <a:gd name="adj" fmla="val 5625"/>
            </a:avLst>
          </a:prstGeom>
          <a:solidFill>
            <a:srgbClr val="12241A"/>
          </a:solidFill>
          <a:ln w="12700">
            <a:solidFill>
              <a:srgbClr val="1D3A2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11896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year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11896" y="4937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Buildout, license conversion, first compliant batches, NJ launch.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roadmap — not legal or financial advice. Verify all rules with NJ-CRC, NY-OCM, MA-CCC and licensed counsel before acting.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STRIDE — THC Running Gels Business Roadmap</dc:title>
  <dc:subject>PptxGenJS Presentation</dc:subject>
  <dc:creator>STRIDE</dc:creator>
  <cp:lastModifiedBy>STRIDE</cp:lastModifiedBy>
  <cp:revision>1</cp:revision>
  <dcterms:created xsi:type="dcterms:W3CDTF">2026-06-14T18:59:19Z</dcterms:created>
  <dcterms:modified xsi:type="dcterms:W3CDTF">2026-06-14T18:59:19Z</dcterms:modified>
</cp:coreProperties>
</file>